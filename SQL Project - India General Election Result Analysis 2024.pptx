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</ns0:sldIdLst>
  <ns0:sldSz cx="12192000" cy="6858000" type="screen4x3"/>
  <ns0:notesSz cx="6858000" cy="9144000"/>
  <ns0:embeddedFontLst>
    <ns0:embeddedFont>
      <ns0:font typeface="JetBrains Mono"/>
      <ns0:bold ns1:id="rIdFont10"/>
    </ns0:embeddedFont>
    <ns0:embeddedFont>
      <ns0:font typeface="Plus Jakarta Sans"/>
      <ns0:bold ns1:id="rIdFont11"/>
      <ns0:regular ns1:id="rIdFont1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Font10" Type="http://schemas.openxmlformats.org/officeDocument/2006/relationships/font" Target="fonts/a968b763-1d07-4da0-bf8d-1aee64849ba4.fntdata" /><ns0:Relationship Id="rIdFont11" Type="http://schemas.openxmlformats.org/officeDocument/2006/relationships/font" Target="fonts/b27a81f4-bc68-4a9a-bd8c-90267acdac5c.fntdata" /><ns0:Relationship Id="rIdFont12" Type="http://schemas.openxmlformats.org/officeDocument/2006/relationships/font" Target="fonts/204966ad-5a90-49f3-8231-3975071ea55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86301"/>
            <a:ext cx="109728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33400"/>
            <a:ext cx="3219450" cy="342900"/>
          </a:xfrm>
          <a:prstGeom prst="roundRect">
            <a:avLst>
              <a:gd name="adj" fmla="val 50000"/>
            </a:avLst>
          </a:prstGeom>
          <a:solidFill>
            <a:srgbClr val="1C2F50"/>
          </a:solidFill>
          <a:ln w="9525">
            <a:solidFill>
              <a:srgbClr val="22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41341"/>
            <a:ext cx="3530649" cy="771525"/>
          </a:xfrm>
          <a:prstGeom prst="roundRect">
            <a:avLst>
              <a:gd name="adj" fmla="val 14814"/>
            </a:avLst>
          </a:prstGeom>
          <a:solidFill>
            <a:srgbClr val="1D273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749" y="4541341"/>
            <a:ext cx="3530649" cy="771525"/>
          </a:xfrm>
          <a:prstGeom prst="roundRect">
            <a:avLst>
              <a:gd name="adj" fmla="val 14814"/>
            </a:avLst>
          </a:prstGeom>
          <a:solidFill>
            <a:srgbClr val="1D273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4541341"/>
            <a:ext cx="3530649" cy="771525"/>
          </a:xfrm>
          <a:prstGeom prst="roundRect">
            <a:avLst>
              <a:gd name="adj" fmla="val 14814"/>
            </a:avLst>
          </a:prstGeom>
          <a:solidFill>
            <a:srgbClr val="1D273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886301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6286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110138"/>
            <a:ext cx="195262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01250" y="619125"/>
            <a:ext cx="197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ELECTION DATASET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544984"/>
            <a:ext cx="11582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59E0B"/>
                </a:solidFill>
                <a:latin typeface="Plus Jakarta Sans"/>
              </a:rPr>
              <a:t>SQL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897409"/>
            <a:ext cx="10601325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lus Jakarta Sans"/>
              </a:rPr>
              <a:t>INDIA GENERAL ELECTION RESULT ANALYSIS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396406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An end-to-end relational database analysis uncovering constituency metrics, alliance seat breakdowns, EVM vs. postal vote ratios, and candidate victory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0" y="6100613"/>
            <a:ext cx="1104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SLIDE 01 /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619125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Plus Jakarta Sans"/>
              </a:rPr>
              <a:t>DATA ANALYTICS &amp; SQL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722316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COMPLEX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931866"/>
            <a:ext cx="3817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Aggregations &amp; Joins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4722316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Plus Jakarta Sans"/>
              </a:rPr>
              <a:t>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4931866"/>
            <a:ext cx="3817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5-Table Relational ERD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4722316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KEY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4931866"/>
            <a:ext cx="3817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NDA vs I.N.D.I.A Alliances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3750" y="6086326"/>
            <a:ext cx="1476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VISHAL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6096000"/>
            <a:ext cx="111252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633614"/>
            <a:ext cx="11125200" cy="659010"/>
          </a:xfrm>
          <a:prstGeom prst="roundRect">
            <a:avLst>
              <a:gd name="adj" fmla="val 11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60960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1851124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3150" y="1851124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2778621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3150" y="2778621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3706117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150" y="3706117"/>
            <a:ext cx="5505450" cy="832246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2950" y="477648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5283100"/>
            <a:ext cx="1112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400" y="4633614"/>
            <a:ext cx="1112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4633614"/>
            <a:ext cx="38100" cy="65901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075" y="4633614"/>
            <a:ext cx="9525" cy="65901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400" y="471487"/>
            <a:ext cx="1652587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199399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400" y="2673846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400" y="1851124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1851124"/>
            <a:ext cx="38100" cy="83224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29325" y="1851124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2700" y="199399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150" y="2673846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150" y="1851124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150" y="1851124"/>
            <a:ext cx="38100" cy="83224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49075" y="1851124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2950" y="2921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" y="3601342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3400" y="2778621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2778621"/>
            <a:ext cx="38100" cy="83224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29325" y="2778621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62700" y="2921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150" y="3601342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150" y="2778621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150" y="2778621"/>
            <a:ext cx="38100" cy="83224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49075" y="2778621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950" y="384899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3400" y="4528839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3400" y="370611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3400" y="3706117"/>
            <a:ext cx="38100" cy="83224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29325" y="3706117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62700" y="384899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3150" y="4528839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3150" y="370611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53150" y="3706117"/>
            <a:ext cx="38100" cy="832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649075" y="3706117"/>
            <a:ext cx="9525" cy="83224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276975"/>
            <a:ext cx="185737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33400" y="828675"/>
            <a:ext cx="11658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Key database queries designed to derive actionable political insights and constituency metrics.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10875" y="6262687"/>
            <a:ext cx="1133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SLIDE 02 / 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67950" y="500062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INDIA ELECTION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075" y="477648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5625" y="6257925"/>
            <a:ext cx="142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VISHAL KUMAR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509587"/>
            <a:ext cx="15192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1237" y="419100"/>
            <a:ext cx="95511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SQL PROBLEM STATEMENTS &amp; ANALYTICAL QUESTIONS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075" y="199399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9825" y="199399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059669"/>
                </a:solidFill>
                <a:latin typeface="Plus Jakarta Sans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075" y="2921496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D97706"/>
                </a:solidFill>
                <a:latin typeface="Plus Jakarta San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9825" y="2921496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DC2626"/>
                </a:solidFill>
                <a:latin typeface="Plus Jakarta Sans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075" y="384899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8B5CF6"/>
                </a:solidFill>
                <a:latin typeface="Plus Jakarta San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9825" y="384899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3950" y="4776489"/>
            <a:ext cx="1081385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Comprehensive State Deep-Dive: Maharashtra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3950" y="4976514"/>
            <a:ext cx="10298906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For Maharashtra, calculate total seats, candidate counts, participating parties, total vote volume, and EVM vs. postal vote breakdowns.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3950" y="1993999"/>
            <a:ext cx="621327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Winning Candidates &amp; Margins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3950" y="2194024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Identify winning candidate name, party, total votes, and victory margin for specific state &amp; constituency.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3700" y="1993999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EVM vs. Postal Votes Distribution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3700" y="2194024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Analyze the breakdown of EVM votes versus postal votes for candidates in a specific constituency.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3950" y="2921496"/>
            <a:ext cx="621327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State Party Seat Distribution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3950" y="3121521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Determine which parties won the most seats in a given State and the exact seat count per party.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3700" y="2921496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Alliance Seat Tally (NDA, I.N.D.I.A, OTHER)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3700" y="3121521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Calculate total seats won by each political alliance (NDA, I.N.D.I.A, &amp; OTHERS) across all states.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3950" y="3848992"/>
            <a:ext cx="621327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Highest EVM Vote Performers (Top 10)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3950" y="4049017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Identify the top 10 candidates who received the maximum EVM votes across all constituencies.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43700" y="3848992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Winner vs. Runner-Up Comparison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43700" y="4049017"/>
            <a:ext cx="48291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Find the winning and runner-up candidate pair in every state constituency for Election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047750"/>
            <a:ext cx="11201400" cy="499110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5300" y="6153150"/>
            <a:ext cx="112014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86975" y="504825"/>
            <a:ext cx="1609725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300" y="6153150"/>
            <a:ext cx="11201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1525" y="2676525"/>
            <a:ext cx="1840557" cy="173355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2232" y="2619375"/>
            <a:ext cx="2009923" cy="184785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97826" y="3090862"/>
            <a:ext cx="1422796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5300" y="428625"/>
            <a:ext cx="942975" cy="219075"/>
          </a:xfrm>
          <a:prstGeom prst="roundRect">
            <a:avLst>
              <a:gd name="adj" fmla="val 2608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50" y="2686050"/>
            <a:ext cx="1821507" cy="3238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050" y="2990850"/>
            <a:ext cx="1821507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4482" y="3257550"/>
            <a:ext cx="895350" cy="323850"/>
          </a:xfrm>
          <a:prstGeom prst="roundRect">
            <a:avLst>
              <a:gd name="adj" fmla="val 2941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1282" y="2638425"/>
            <a:ext cx="1971823" cy="3238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1282" y="2943225"/>
            <a:ext cx="1971823" cy="190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87790" y="2376487"/>
            <a:ext cx="209550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87790" y="3367087"/>
            <a:ext cx="2095500" cy="1343025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35690" y="3267075"/>
            <a:ext cx="509736" cy="323850"/>
          </a:xfrm>
          <a:prstGeom prst="roundRect">
            <a:avLst>
              <a:gd name="adj" fmla="val 2941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07351" y="3100387"/>
            <a:ext cx="1403746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5350" y="4152900"/>
            <a:ext cx="1592907" cy="19050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45582" y="3019425"/>
            <a:ext cx="1743223" cy="190500"/>
          </a:xfrm>
          <a:prstGeom prst="roundRect">
            <a:avLst>
              <a:gd name="adj" fmla="val 20000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45582" y="3971925"/>
            <a:ext cx="1743223" cy="19050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45582" y="4200525"/>
            <a:ext cx="1743223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9223" y="2957512"/>
            <a:ext cx="571500" cy="200025"/>
          </a:xfrm>
          <a:prstGeom prst="roundRect">
            <a:avLst>
              <a:gd name="adj" fmla="val 4761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74556" y="3576637"/>
            <a:ext cx="960834" cy="323850"/>
          </a:xfrm>
          <a:prstGeom prst="roundRect">
            <a:avLst>
              <a:gd name="adj" fmla="val 2941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7315" y="2386012"/>
            <a:ext cx="2076450" cy="2667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7315" y="3376612"/>
            <a:ext cx="2076450" cy="2667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21651" y="3500437"/>
            <a:ext cx="1175146" cy="1905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11615" y="3014662"/>
            <a:ext cx="1847850" cy="17145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11615" y="4005262"/>
            <a:ext cx="1847850" cy="152400"/>
          </a:xfrm>
          <a:prstGeom prst="roundRect">
            <a:avLst>
              <a:gd name="adj" fmla="val 18750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11615" y="4491037"/>
            <a:ext cx="1847850" cy="152400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6315075"/>
            <a:ext cx="185737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20325" y="561975"/>
            <a:ext cx="1438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5 RELATIONAL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9450" y="6300787"/>
            <a:ext cx="114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SLIDE 03 /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" y="733425"/>
            <a:ext cx="8727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Relational layout mapping primary keys (PK), foreign keys (FK), and inter-table dependencies.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7525" y="6296025"/>
            <a:ext cx="142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Plus Jakarta Sans"/>
              </a:rPr>
              <a:t>VISHAL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466725"/>
            <a:ext cx="847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DATA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525" y="381000"/>
            <a:ext cx="78009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ENTITY RELATIONSHIP DIAGRAM (ERD) /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2762250"/>
            <a:ext cx="168815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constituencywise_details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0682" y="3286125"/>
            <a:ext cx="838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B82F6"/>
                </a:solidFill>
                <a:latin typeface="Plus Jakarta Sans"/>
              </a:rPr>
              <a:t>Constituency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5957" y="3600450"/>
            <a:ext cx="438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45582" y="2714625"/>
            <a:ext cx="183847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constituencywise_results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1890" y="3295650"/>
            <a:ext cx="45258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State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4284" y="3590925"/>
            <a:ext cx="438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21651" y="3176587"/>
            <a:ext cx="127039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states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350" y="3067050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Candidate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350" y="3248025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Party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350" y="3429000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EVM Votes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350" y="3609975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Postal Votes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5350" y="3790950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Total Votes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5350" y="3971925"/>
            <a:ext cx="19911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% of Votes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" y="4171950"/>
            <a:ext cx="157385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2410C"/>
                </a:solidFill>
                <a:latin typeface="JetBrains Mono"/>
              </a:rPr>
              <a:t>Constituency ID [FK]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2732" y="3038475"/>
            <a:ext cx="172417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54D0E"/>
                </a:solidFill>
                <a:latin typeface="JetBrains Mono"/>
              </a:rPr>
              <a:t>Parliament Constituency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45582" y="3248025"/>
            <a:ext cx="217902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Constituency Name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45582" y="3429000"/>
            <a:ext cx="217902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Winning Candidate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45582" y="3609975"/>
            <a:ext cx="217902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Total Votes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45582" y="3790950"/>
            <a:ext cx="217902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Margin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02732" y="3990975"/>
            <a:ext cx="172417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2410C"/>
                </a:solidFill>
                <a:latin typeface="JetBrains Mono"/>
              </a:rPr>
              <a:t>Constituency ID [PK]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2732" y="4219575"/>
            <a:ext cx="172417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JetBrains Mono"/>
              </a:rPr>
              <a:t>Party ID [FK]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423" y="2986087"/>
            <a:ext cx="514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Plus Jakarta Sans"/>
              </a:rPr>
              <a:t>Party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8773" y="3157537"/>
            <a:ext cx="438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0756" y="3605212"/>
            <a:ext cx="9036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D4ED8"/>
                </a:solidFill>
                <a:latin typeface="Plus Jakarta Sans"/>
              </a:rPr>
              <a:t>Parliament Const.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8773" y="3900487"/>
            <a:ext cx="438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11615" y="2443162"/>
            <a:ext cx="1943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partywise_results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11615" y="3433762"/>
            <a:ext cx="1943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statewise_results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8801" y="3519487"/>
            <a:ext cx="115609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JetBrains Mono"/>
              </a:rPr>
              <a:t>State ID [PK]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21651" y="3748087"/>
            <a:ext cx="146893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State 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11615" y="2709862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Party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11615" y="2862262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Won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8765" y="3033712"/>
            <a:ext cx="1828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5803D"/>
                </a:solidFill>
                <a:latin typeface="JetBrains Mono"/>
              </a:rPr>
              <a:t>Party ID [PK]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11615" y="3700462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Constituency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11615" y="3852862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Const. No.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49715" y="4014787"/>
            <a:ext cx="223361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854D0E"/>
                </a:solidFill>
                <a:latin typeface="JetBrains Mono"/>
              </a:rPr>
              <a:t>Parliament Const. [FK]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11615" y="4186237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Leading Candidate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11615" y="4338637"/>
            <a:ext cx="230981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Plus Jakarta Sans"/>
              </a:rPr>
              <a:t>Margin / 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49715" y="4500562"/>
            <a:ext cx="223361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40AF"/>
                </a:solidFill>
                <a:latin typeface="JetBrains Mono"/>
              </a:rPr>
              <a:t>State ID [FK]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